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-914400"/>
            <a:ext cx="6400800" cy="914400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583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SAFIDY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000" b="1">
                <a:solidFill>
                  <a:srgbClr val="A9D6C6"/>
                </a:solidFill>
                <a:latin typeface="Segoe UI"/>
              </a:rPr>
              <a:t>Manuel d'utilisation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7E6E0"/>
                </a:solidFill>
                <a:latin typeface="Segoe UI"/>
              </a:rPr>
              <a:t>Application web de gestion et de suivi de l'Impot sur le Revenu (IR)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1500" b="0">
                <a:solidFill>
                  <a:srgbClr val="D7E6E0"/>
                </a:solidFill>
                <a:latin typeface="Segoe UI"/>
              </a:rPr>
              <a:t>Centre fiscal — Madagascar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92040"/>
            <a:ext cx="146304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Projet de fin d'etudes — Version 1.0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B9CFC7"/>
                </a:solidFill>
                <a:latin typeface="Segoe UI"/>
              </a:rPr>
              <a:t>Documentation des pages, fonctionnalites, modification apportees et ordre de test.</a:t>
            </a:r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37360"/>
            <a:ext cx="4572000" cy="2891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Sommaire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Ce que contient ce manuel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28016" cy="658368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  <a:latin typeface="Segoe UI"/>
              </a:rPr>
              <a:t>1.  Presentation generale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Objectif, public,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95728"/>
            <a:ext cx="128016" cy="658368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  <a:latin typeface="Segoe UI"/>
              </a:rPr>
              <a:t>2.  Comptes de connexion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Identifiants et roles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91256"/>
            <a:ext cx="128016" cy="658368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  <a:latin typeface="Segoe UI"/>
              </a:rPr>
              <a:t>3.  Visite guidee page par page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14 ecrans expliques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86784"/>
            <a:ext cx="128016" cy="658368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68496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  <a:latin typeface="Segoe UI"/>
              </a:rPr>
              <a:t>4.  Fonctionnalites cles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Calcul de l'IR, acomptes, penalites...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82312"/>
            <a:ext cx="128016" cy="658368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64024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  <a:latin typeface="Segoe UI"/>
              </a:rPr>
              <a:t>5.  Modifications apportees (avant / apres)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Ce qui a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77840"/>
            <a:ext cx="128016" cy="658368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5955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93B"/>
                </a:solidFill>
                <a:latin typeface="Segoe UI"/>
              </a:rPr>
              <a:t>6.  Ordre de test recommande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Etapes de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Presentation generale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A quoi sert l'application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5778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50" b="1">
                <a:solidFill>
                  <a:srgbClr val="1A5C4A"/>
                </a:solidFill>
                <a:latin typeface="Segoe UI"/>
              </a:rPr>
              <a:t>▪  Objectif : enregistrer les contribuables, gerer les declarations d'IR, calculer l'impot automatiquement.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50" b="1">
                <a:solidFill>
                  <a:srgbClr val="1A5C4A"/>
                </a:solidFill>
                <a:latin typeface="Segoe UI"/>
              </a:rPr>
              <a:t>▪  Public : reserve aux agents du centre fiscal (aucun espace contribuable).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50" b="1">
                <a:solidFill>
                  <a:srgbClr val="1A5C4A"/>
                </a:solidFill>
                <a:latin typeface="Segoe UI"/>
              </a:rPr>
              <a:t>▪  Modules : contribuables, declarations, deficits, acomptes, paiements, penalites, suspensions, statistiques, audit, administration.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50" b="1">
                <a:solidFill>
                  <a:srgbClr val="1A5C4A"/>
                </a:solidFill>
                <a:latin typeface="Segoe UI"/>
              </a:rPr>
              <a:t>▪  Stack : React + Vite (frontend), Spring Boot + PostgreSQL (backend).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50" b="1">
                <a:solidFill>
                  <a:srgbClr val="1A5C4A"/>
                </a:solidFill>
                <a:latin typeface="Segoe UI"/>
              </a:rPr>
              <a:t>▪  Architecture : React → Spring Boot → PostgreSQL (monolithe MVC simple).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303520" cy="448056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7548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1A5C4A"/>
                </a:solidFill>
                <a:latin typeface="Segoe UI"/>
              </a:rPr>
              <a:t>En un coup d'oeil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React 19, Vite, Axios, React Router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Backend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Spring Boot, Web, JPA, Security, JWT, BCrypt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Base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PostgreSQL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Securite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JWT + jeton de session + timeout d'inactivite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Comptes de connexion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Identifiants de test (mot de passe identique)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749807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346"/>
                <a:gridCol w="1499615"/>
                <a:gridCol w="1349654"/>
                <a:gridCol w="209946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E-mail (identifiant)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Mot de passe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Acces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admin@safidy.mg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admin1234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Tout + Administration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resp@safidy.mg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admin1234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RESPONSABLE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Tout sauf Administration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resp2@safidy.mg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admin1234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RESPONSABLE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Tout sauf Administration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agent@safidy.mg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admin1234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Operations courantes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agent2@safidy.mg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admin1234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Segoe UI"/>
                        </a:rPr>
                        <a:t>Operations courantes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5C4A"/>
                </a:solidFill>
                <a:latin typeface="Segoe UI"/>
              </a:rPr>
              <a:t>A savoir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•  Le script 06_insert_test_data.sql cree 3 comptes (admin, resp, agent) ; 08_seed_complet.sql en cree 5.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•  Mot de passe identique pour tous : admin1234 (hash BCrypt en base).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293B"/>
                </a:solidFill>
                <a:latin typeface="Segoe UI"/>
              </a:rPr>
              <a:t>•  Apres 5 echecs, le compte est automatiquement BLOQUE.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Roles et droits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Qui peut faire quoi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69847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756"/>
                <a:gridCol w="5242255"/>
                <a:gridCol w="3744467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Peut faire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Page Administration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Acces complet a tous les modules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Oui : comptes agents + parametres fiscaux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RESPONSABLE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Modules metier (contribuables, declarations, paiements...)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Non (lecture des parametres possible)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Operations courantes sur les dossiers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Segoe UI"/>
                        </a:rPr>
                        <a:t>Non (masquee du menu)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5720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Le menu lateral masque automatiquement l'entree « Administration » pour les roles autres que ADMIN.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L'ecriture d'un parametre fiscal est reservee a l'ADMIN ; sa lecture est ouverte a ADMIN et RESPONSABLE.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Connexion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/login   •   Acces : Tous (non connecte)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Champs E-mail et Mot de passe (pre-remplis pour le test).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Bouton œil pour afficher / masquer le mot de passe.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Se connecter : verifie le mot de passe (BCrypt) et delivre un jeton JWT.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En cas d'echec : message d'erreur ; 5 echecs = compte BLOQUE.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Un compte non ACTIF (bloque) ne peut pas se connecter.</a:t>
            </a:r>
          </a:p>
        </p:txBody>
      </p:sp>
      <p:pic>
        <p:nvPicPr>
          <p:cNvPr id="9" name="Picture 8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Tableau de bord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/dashboard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4 indicateurs : contribuables, declarations, paiements, acomptes.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5 cartes financieres : IR total du, encaisse, reste a payer, en retard, taux de recouvrement.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Graphique IR du par annee (barres) et declarations par statut (camembert).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Alertes : Top 5 des impayes et echeances d'acomptes dans 30 jours.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Bouton « Voir » vers la fiche d'un contribuable en retard.</a:t>
            </a:r>
          </a:p>
        </p:txBody>
      </p:sp>
      <p:pic>
        <p:nvPicPr>
          <p:cNvPr id="9" name="Picture 8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Contribuables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/contribuables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Recherche instantanee : NIF, nom, STAT, telephone + filtre par statut.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« Nouveau contribuable » et « Modifier » (formulaire complet).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Changer le statut : ACTIF, SUSPENDU, CESSE, RADIE.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Lien « Fiche » vers le dossier fiscal complet du contribuable.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Compteur de resultats en bas de tableau.</a:t>
            </a:r>
          </a:p>
        </p:txBody>
      </p:sp>
      <p:pic>
        <p:nvPicPr>
          <p:cNvPr id="9" name="Picture 8" descr="03_contribu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Fiche contribuable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/contribuables/:id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Identite + situation fiscale : A jour / A payer / En retard.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Cartes : total IR du, total paye, reste a payer, declarations impayees.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Informations generales (NIF, STAT, dirigeant, secteur, regime...).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Liste des declarations et des paiements (quittances) du contribuable.</a:t>
            </a:r>
          </a:p>
        </p:txBody>
      </p:sp>
      <p:pic>
        <p:nvPicPr>
          <p:cNvPr id="9" name="Picture 8" descr="04_fi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Declarations IR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/declarations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Liste filtrable par annee.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« Nouvelle declaration » : choisir contribuable + annee.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Controles : annee &gt;= annee d'immatriculation et &lt;= annee courante.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Ouverture d'une declaration pour saisir les elements et calculer l'impot.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Colonnes : NIF, contribuable, annee, IR du, solde a payer, statut.</a:t>
            </a:r>
          </a:p>
        </p:txBody>
      </p:sp>
      <p:pic>
        <p:nvPicPr>
          <p:cNvPr id="9" name="Picture 8" descr="05_decla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Declaration – saisie et calcul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/declarations (detail)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CA HT + charges par categorie (SALAIRE, LOYER... ou AUTRE -&gt; categorie libre).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Mois actifs (arret d'activite) : le minimum est proratise.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Reintegrations, deductions et acomptes verses.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« Calculer l'impot » affiche resultat, base, IR brut, minimum, IR du, solde.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« Valider » fige la declaration et genere les acomptes de l'annee suivante.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Une declaration non BROUILLON n'est plus modifiable.</a:t>
            </a:r>
          </a:p>
        </p:txBody>
      </p:sp>
      <p:pic>
        <p:nvPicPr>
          <p:cNvPr id="9" name="Picture 8" descr="10_declaration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Deficits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/deficits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Stock de deficits reportables (report sur 5 ans).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Cartes : deficits actifs, montant total, nombre de deficits.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« Nouveau deficit » : contribuable, annee d'origine, montant.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Colonnes : montant initial, utilise, solde, expiration, statut.</a:t>
            </a:r>
          </a:p>
        </p:txBody>
      </p:sp>
      <p:pic>
        <p:nvPicPr>
          <p:cNvPr id="9" name="Picture 8" descr="06_defic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Acomptes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/acomptes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Suivi des acomptes : 2 versements de 50 % de l'IR de l'annee N-1.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Colonnes : annee, numero, taux, base IR N-1, montant, echeance, statut.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Recherche par contribuable, annee ou numero.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Les acomptes sont generes automatiquement a la validation d'une declaration.</a:t>
            </a:r>
          </a:p>
        </p:txBody>
      </p:sp>
      <p:pic>
        <p:nvPicPr>
          <p:cNvPr id="9" name="Picture 8" descr="07_acomp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Paiements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/paiements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Enregistrer un paiement (acompte / solde / penalite) et creer une quittance.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Export Excel de la liste des paiements.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Annuler un paiement (avec confirmation).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Statut VALIDE / ANNULE ; mode de paiement (especes, virement...).</a:t>
            </a:r>
          </a:p>
        </p:txBody>
      </p:sp>
      <p:pic>
        <p:nvPicPr>
          <p:cNvPr id="9" name="Picture 8" descr="08_pai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Penalites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/penalites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Amende de depot tardif (montant forfaitaire).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Interet de retard : 1 % par mois sur le montant en retard.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Annuler une penalite.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Colonnes : type, nombre de mois, taux, montant, statut.</a:t>
            </a:r>
          </a:p>
        </p:txBody>
      </p:sp>
      <p:pic>
        <p:nvPicPr>
          <p:cNvPr id="9" name="Picture 8" descr="09_penal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Arret / reprise d'activite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/suspensions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Choisir un contribuable, puis declarer un arret (date + motif).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Motifs : manque d'activite, travaux, saison, difficulte financiere, autre.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Declarer la reprise (date) pour cloturer la suspension.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Historique des suspensions ; annuler une suspension en cours.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A la reprise, les acomptes sont recalcules.</a:t>
            </a:r>
          </a:p>
        </p:txBody>
      </p:sp>
      <p:pic>
        <p:nvPicPr>
          <p:cNvPr id="9" name="Picture 8" descr="11_susp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Statistiques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/statistiques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Cartes de synthese : IR total du, encaisse, reste a payer, taux de recouvrement.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Graphiques : IR du par annee, declarations par statut, IR du par secteur.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Tableau de detail par secteur (nombre de declarations, IR du).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Vue consolidee pour le pilotage et le reporting.</a:t>
            </a:r>
          </a:p>
        </p:txBody>
      </p:sp>
      <p:pic>
        <p:nvPicPr>
          <p:cNvPr id="9" name="Picture 8" descr="12_statis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Journal d'audit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/audit   •   Acces : Tous les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Trace toutes les actions effectuees dans l'application.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Colonnes : date/heure, agent, action, table, id cible, adresse IP.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Recherche par action, table ou agent.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Utile pour la tracabilite et le controle.</a:t>
            </a:r>
          </a:p>
        </p:txBody>
      </p:sp>
      <p:pic>
        <p:nvPicPr>
          <p:cNvPr id="9" name="Picture 8" descr="13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Administration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Route : /admin   •   Acces : ADMIN uniquement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6235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Liste des agents : matricule, nom, e-mail, role, statut.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Creer un agent (matricule, nom, prenom, e-mail, role, mot de passe).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Bloquer / activer un agent ; reinitialiser son mot de passe.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Parametres fiscaux : consulter et modifier la valeur (TAUX_IR, SEUIL_REEL...).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350" b="1">
                <a:solidFill>
                  <a:srgbClr val="1A5C4A"/>
                </a:solidFill>
                <a:latin typeface="Segoe UI"/>
              </a:rPr>
              <a:t>▪  Acces refuse et entree masquee pour les roles non ADMIN.</a:t>
            </a:r>
          </a:p>
        </p:txBody>
      </p:sp>
      <p:pic>
        <p:nvPicPr>
          <p:cNvPr id="9" name="Picture 8" descr="14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34115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Modifications apportees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Ce qui a change (vue d'ensemble)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5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899"/>
                <a:gridCol w="3482035"/>
                <a:gridCol w="5005425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Domaine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Avant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Apres</a:t>
                      </a:r>
                    </a:p>
                  </a:txBody>
                  <a:tcPr anchor="ctr" marL="73152" marR="54864" marT="18288" marB="18288">
                    <a:solidFill>
                      <a:srgbClr val="1A5C4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Mois actifs (SU6)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Minimum sur annee pleine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Minimum proratise selon les mois actifs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Deconnexion inactivite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20 s / 5 s (bug)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15 min + avertissement 1 min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Statut acompte / penalite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Aucun endpoint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PATCH .../statut ajoute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Paiement (CT8)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Possible meme si inactif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Bloque sauf pour solder une dette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Reprise d'activite (SU7)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Acomptes non recalcules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Recalcul + reactivation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Declaration en retard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Statut fige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Passage auto en EN_RETARD (sans scheduler)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Administration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Inexistante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Page + API agents et parametres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Statistiques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Pas de page dediee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Page Statistiques + menu</a:t>
                      </a:r>
                    </a:p>
                  </a:txBody>
                  <a:tcPr anchor="ctr" marL="73152" marR="54864" marT="18288" marB="18288">
                    <a:solidFill>
                      <a:srgbClr val="F1F5F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Securite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Hash du mot de passe expose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93B"/>
                          </a:solidFill>
                          <a:latin typeface="Segoe UI"/>
                        </a:rPr>
                        <a:t>@JsonIgnore + hash de test corrige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Modifications (1/3)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Calcul et regles metier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Mois actifs (SU6)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Minimum = part fixe + % du CA (annee pleine).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Minimum = part fixe × mois actifs / 12 + % du CA ; champ mois actifs saisissable.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70632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620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Reprise d'activite (SU7)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73552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Acomptes non recalcules a la reprise.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3552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A la reprise : statut reactif et acomptes recalcules.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9664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6110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Paiement d'un contribuable inactif (CT8)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72584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Paiement possible meme pour CESSE / RADIE / SUSPENDU.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672584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Paiement bloque, sauf pour solder une dette existante.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68696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6013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Declaration en retard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071616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Le statut restait fige.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071616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Passage automatique en EN_RETARD a l'affichage (sans scheduler).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Modifications (2/3)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Fonctionnalites et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Module 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Inexistant (aucune page ni API).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Backend (agents, parametres, centres) + page Administration + menu (ADMIN).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70632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620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Page Statistiques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73552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Aucune page dediee.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3552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Page Statistiques avec cartes, graphiques et detail par secteur.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9664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6110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Statut acompte et penalite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72584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Aucun endpoint pour changer le statut.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672584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Endpoints PATCH /api/acomptes/{id}/statut et /api/penalites/{id}/statut.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68696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6013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Formulaire de declaration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071616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Pas de champ mois actifs.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071616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Section « Mois actifs » + bouton d'enregistrement dedie.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Modifications (3/3)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Robustesse et securite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Deconnexion par inactivite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Duree erronee (20 s / 5 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15 minutes d'inactivite + avertissement 1 minute avant.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70632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620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Exposition du mot de passe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73552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Le hash du mot de passe pouvait sortir dans les reponses.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3552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Annotation @JsonIgnore (aucun DTO ajoute, code reste simple).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9664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6110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Comptes de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72584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Hash BCrypt errone : connexion impossible apres re-seed.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672584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Hash corrige et verifie : admin1234 fonctionne pour tous les comptes.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68696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6013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5C4A"/>
                </a:solidFill>
                <a:latin typeface="Segoe UI"/>
              </a:rPr>
              <a:t>Menu lateral et 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071616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AVANT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La classe d'affichage mobile etait ignoree.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071616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APRES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E293B"/>
                </a:solidFill>
                <a:latin typeface="Segoe UI"/>
              </a:rPr>
              <a:t>Le composant accepte et applique la classe (ouverture mobile).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Ordre de test recommande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Etapes de verification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Demarrer le service PostgreSQL, puis initialiser la base (init.ps1 ou psql).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9339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93392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Lancer le backend (run-local.ps1) : http://localhost:8080 doit repondre.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151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15184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Lancer le frontend (npm run dev) : http://localhost:5173.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369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369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36976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Se connecter avec admin@safidy.mg / admin1234.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5876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587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58768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Tableau de bord : verifier cartes, graphiques et alertes.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80560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Contribuables : creer un contribuable, ouvrir sa fiche, changer son statut.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023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023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02352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Declarations : creer une declaration, saisir CA, charges et mois actifs.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2414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72414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724144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Cliquer « Calculer l'impot » puis verifier le resultat, et Valider.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Ordre de test recommande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DD5"/>
                </a:solidFill>
                <a:latin typeface="Segoe UI"/>
              </a:rPr>
              <a:t>Etapes de verification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5240"/>
          </a:xfrm>
          <a:prstGeom prst="rect">
            <a:avLst/>
          </a:prstGeom>
          <a:solidFill>
            <a:srgbClr val="D8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Safidy — Manuel d'utilisation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98448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98448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Acomptes : verifier que les acomptes de l'annee suivante sont generes.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10512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1051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10512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Paiements : enregistrer un paiement et exporter la liste en Excel.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22576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2257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22576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Penalites : generer une amende de depot tardif et un interet de retard.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3464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34640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Arret / reprise : declarer un arret puis une reprise, verifier le recalcul.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46704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4670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346704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Deficits : creer un deficit reportable.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58768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5876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858768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Statistiques : verifier les graphiques et le detail par secteur.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70832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7083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370832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Journal d'audit : controler que les actions precedentes sont tracees.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82896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8289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882896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Administration (ADMIN) : creer un agent, le bloquer, reinitialiser son mot de passe.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394960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Reconnexion en resp@safidy.mg puis agent@safidy.mg : l'Administration doit etre masquee.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907024"/>
            <a:ext cx="420624" cy="420624"/>
          </a:xfrm>
          <a:prstGeom prst="roundRect">
            <a:avLst>
              <a:gd name="adj" fmla="val 6000"/>
            </a:avLst>
          </a:prstGeom>
          <a:solidFill>
            <a:srgbClr val="1A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0702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907024"/>
            <a:ext cx="10149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Optionnel : attendre 15 min d'inactivite pour tester la deconnexion automatique.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Merci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7DDD5"/>
                </a:solidFill>
                <a:latin typeface="Segoe UI"/>
              </a:rPr>
              <a:t>Application Safidy — Gestion et suivi de l'Impot sur le Revenu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9D6C6"/>
                </a:solidFill>
                <a:latin typeface="Segoe UI"/>
              </a:rPr>
              <a:t>Identifiants de test : admin@safidy.mg / admin1234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